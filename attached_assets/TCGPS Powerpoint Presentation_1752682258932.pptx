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9" r:id="rId6"/>
    <p:sldId id="312" r:id="rId7"/>
    <p:sldId id="271" r:id="rId8"/>
    <p:sldId id="300" r:id="rId9"/>
    <p:sldId id="308" r:id="rId10"/>
    <p:sldId id="307" r:id="rId11"/>
    <p:sldId id="284" r:id="rId12"/>
    <p:sldId id="310" r:id="rId13"/>
    <p:sldId id="288" r:id="rId14"/>
    <p:sldId id="311" r:id="rId15"/>
    <p:sldId id="29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D3D1F-E3CF-4232-871C-9423B84F6F4C}" v="1" dt="2025-07-02T21:32:40.49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98" autoAdjust="0"/>
  </p:normalViewPr>
  <p:slideViewPr>
    <p:cSldViewPr snapToGrid="0">
      <p:cViewPr varScale="1">
        <p:scale>
          <a:sx n="64" d="100"/>
          <a:sy n="64" d="100"/>
        </p:scale>
        <p:origin x="1128" y="288"/>
      </p:cViewPr>
      <p:guideLst/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M" userId="2b3391da7c8b99bc" providerId="LiveId" clId="{67BBA70E-9667-4E42-B81A-70FFD7E54D19}"/>
    <pc:docChg chg="undo custSel addSld delSld modSld sldOrd">
      <pc:chgData name="K M" userId="2b3391da7c8b99bc" providerId="LiveId" clId="{67BBA70E-9667-4E42-B81A-70FFD7E54D19}" dt="2024-05-06T19:05:26.485" v="2864" actId="478"/>
      <pc:docMkLst>
        <pc:docMk/>
      </pc:docMkLst>
      <pc:sldChg chg="addSp delSp modSp mod delAnim">
        <pc:chgData name="K M" userId="2b3391da7c8b99bc" providerId="LiveId" clId="{67BBA70E-9667-4E42-B81A-70FFD7E54D19}" dt="2024-03-28T23:31:10.519" v="2174" actId="27636"/>
        <pc:sldMkLst>
          <pc:docMk/>
          <pc:sldMk cId="3111549375" sldId="256"/>
        </pc:sldMkLst>
      </pc:sldChg>
      <pc:sldChg chg="modSp mod">
        <pc:chgData name="K M" userId="2b3391da7c8b99bc" providerId="LiveId" clId="{67BBA70E-9667-4E42-B81A-70FFD7E54D19}" dt="2024-02-24T19:05:12.486" v="1" actId="1076"/>
        <pc:sldMkLst>
          <pc:docMk/>
          <pc:sldMk cId="2779792646" sldId="271"/>
        </pc:sldMkLst>
      </pc:sldChg>
      <pc:sldChg chg="modAnim">
        <pc:chgData name="K M" userId="2b3391da7c8b99bc" providerId="LiveId" clId="{67BBA70E-9667-4E42-B81A-70FFD7E54D19}" dt="2024-04-23T18:03:40.662" v="2214"/>
        <pc:sldMkLst>
          <pc:docMk/>
          <pc:sldMk cId="3185117035" sldId="284"/>
        </pc:sldMkLst>
      </pc:sldChg>
      <pc:sldChg chg="addSp modSp mod">
        <pc:chgData name="K M" userId="2b3391da7c8b99bc" providerId="LiveId" clId="{67BBA70E-9667-4E42-B81A-70FFD7E54D19}" dt="2024-04-23T22:31:23.077" v="2781" actId="113"/>
        <pc:sldMkLst>
          <pc:docMk/>
          <pc:sldMk cId="1109332271" sldId="288"/>
        </pc:sldMkLst>
      </pc:sldChg>
      <pc:sldChg chg="addSp delSp modSp mod">
        <pc:chgData name="K M" userId="2b3391da7c8b99bc" providerId="LiveId" clId="{67BBA70E-9667-4E42-B81A-70FFD7E54D19}" dt="2024-03-01T22:32:49.020" v="300" actId="20577"/>
        <pc:sldMkLst>
          <pc:docMk/>
          <pc:sldMk cId="798203993" sldId="295"/>
        </pc:sldMkLst>
      </pc:sldChg>
      <pc:sldChg chg="addSp delSp modSp mod modAnim">
        <pc:chgData name="K M" userId="2b3391da7c8b99bc" providerId="LiveId" clId="{67BBA70E-9667-4E42-B81A-70FFD7E54D19}" dt="2024-04-23T18:01:28.464" v="2213"/>
        <pc:sldMkLst>
          <pc:docMk/>
          <pc:sldMk cId="1109332271" sldId="299"/>
        </pc:sldMkLst>
      </pc:sldChg>
      <pc:sldChg chg="delSp modSp mod">
        <pc:chgData name="K M" userId="2b3391da7c8b99bc" providerId="LiveId" clId="{67BBA70E-9667-4E42-B81A-70FFD7E54D19}" dt="2024-04-23T18:04:29.320" v="2249" actId="20577"/>
        <pc:sldMkLst>
          <pc:docMk/>
          <pc:sldMk cId="2960976296" sldId="303"/>
        </pc:sldMkLst>
      </pc:sldChg>
      <pc:sldChg chg="delSp modSp del mod">
        <pc:chgData name="K M" userId="2b3391da7c8b99bc" providerId="LiveId" clId="{67BBA70E-9667-4E42-B81A-70FFD7E54D19}" dt="2024-03-19T23:33:17.613" v="1002" actId="47"/>
        <pc:sldMkLst>
          <pc:docMk/>
          <pc:sldMk cId="2810545261" sldId="304"/>
        </pc:sldMkLst>
      </pc:sldChg>
      <pc:sldChg chg="addSp delSp modSp mod ord">
        <pc:chgData name="K M" userId="2b3391da7c8b99bc" providerId="LiveId" clId="{67BBA70E-9667-4E42-B81A-70FFD7E54D19}" dt="2024-04-23T18:05:03.779" v="2274" actId="20577"/>
        <pc:sldMkLst>
          <pc:docMk/>
          <pc:sldMk cId="1432088591" sldId="306"/>
        </pc:sldMkLst>
      </pc:sldChg>
      <pc:sldChg chg="modSp mod">
        <pc:chgData name="K M" userId="2b3391da7c8b99bc" providerId="LiveId" clId="{67BBA70E-9667-4E42-B81A-70FFD7E54D19}" dt="2024-04-23T18:09:59.256" v="2366" actId="1076"/>
        <pc:sldMkLst>
          <pc:docMk/>
          <pc:sldMk cId="2737962721" sldId="307"/>
        </pc:sldMkLst>
      </pc:sldChg>
      <pc:sldChg chg="modSp add mod ord modAnim">
        <pc:chgData name="K M" userId="2b3391da7c8b99bc" providerId="LiveId" clId="{67BBA70E-9667-4E42-B81A-70FFD7E54D19}" dt="2024-04-23T18:05:14.784" v="2275"/>
        <pc:sldMkLst>
          <pc:docMk/>
          <pc:sldMk cId="2874917147" sldId="309"/>
        </pc:sldMkLst>
      </pc:sldChg>
      <pc:sldChg chg="addSp delSp modSp new mod">
        <pc:chgData name="K M" userId="2b3391da7c8b99bc" providerId="LiveId" clId="{67BBA70E-9667-4E42-B81A-70FFD7E54D19}" dt="2024-04-23T18:07:46.401" v="2324" actId="20577"/>
        <pc:sldMkLst>
          <pc:docMk/>
          <pc:sldMk cId="3888555859" sldId="310"/>
        </pc:sldMkLst>
      </pc:sldChg>
      <pc:sldChg chg="delSp modSp new mod ord">
        <pc:chgData name="K M" userId="2b3391da7c8b99bc" providerId="LiveId" clId="{67BBA70E-9667-4E42-B81A-70FFD7E54D19}" dt="2024-03-28T23:04:24.733" v="2126" actId="5793"/>
        <pc:sldMkLst>
          <pc:docMk/>
          <pc:sldMk cId="2749595760" sldId="311"/>
        </pc:sldMkLst>
      </pc:sldChg>
      <pc:sldChg chg="addSp modSp new del mod">
        <pc:chgData name="K M" userId="2b3391da7c8b99bc" providerId="LiveId" clId="{67BBA70E-9667-4E42-B81A-70FFD7E54D19}" dt="2024-05-01T17:16:24.731" v="2790" actId="2696"/>
        <pc:sldMkLst>
          <pc:docMk/>
          <pc:sldMk cId="777884086" sldId="312"/>
        </pc:sldMkLst>
      </pc:sldChg>
      <pc:sldChg chg="new del">
        <pc:chgData name="K M" userId="2b3391da7c8b99bc" providerId="LiveId" clId="{67BBA70E-9667-4E42-B81A-70FFD7E54D19}" dt="2024-05-01T17:14:03.853" v="2784" actId="680"/>
        <pc:sldMkLst>
          <pc:docMk/>
          <pc:sldMk cId="1235962417" sldId="313"/>
        </pc:sldMkLst>
      </pc:sldChg>
      <pc:sldChg chg="addSp delSp modSp new mod">
        <pc:chgData name="K M" userId="2b3391da7c8b99bc" providerId="LiveId" clId="{67BBA70E-9667-4E42-B81A-70FFD7E54D19}" dt="2024-05-06T19:05:26.485" v="2864" actId="478"/>
        <pc:sldMkLst>
          <pc:docMk/>
          <pc:sldMk cId="4279154447" sldId="313"/>
        </pc:sldMkLst>
      </pc:sldChg>
    </pc:docChg>
  </pc:docChgLst>
  <pc:docChgLst>
    <pc:chgData name="K M" userId="2b3391da7c8b99bc" providerId="LiveId" clId="{07AD3D1F-E3CF-4232-871C-9423B84F6F4C}"/>
    <pc:docChg chg="custSel delSld modSld">
      <pc:chgData name="K M" userId="2b3391da7c8b99bc" providerId="LiveId" clId="{07AD3D1F-E3CF-4232-871C-9423B84F6F4C}" dt="2025-07-02T21:33:09.816" v="23" actId="2696"/>
      <pc:docMkLst>
        <pc:docMk/>
      </pc:docMkLst>
      <pc:sldChg chg="modSp mod">
        <pc:chgData name="K M" userId="2b3391da7c8b99bc" providerId="LiveId" clId="{07AD3D1F-E3CF-4232-871C-9423B84F6F4C}" dt="2025-07-02T21:32:42.710" v="22" actId="27636"/>
        <pc:sldMkLst>
          <pc:docMk/>
          <pc:sldMk cId="1109332271" sldId="288"/>
        </pc:sldMkLst>
        <pc:spChg chg="mod">
          <ac:chgData name="K M" userId="2b3391da7c8b99bc" providerId="LiveId" clId="{07AD3D1F-E3CF-4232-871C-9423B84F6F4C}" dt="2025-07-02T21:32:42.710" v="22" actId="27636"/>
          <ac:spMkLst>
            <pc:docMk/>
            <pc:sldMk cId="1109332271" sldId="288"/>
            <ac:spMk id="9" creationId="{957A8109-BBBF-407C-81F8-08088ED99698}"/>
          </ac:spMkLst>
        </pc:spChg>
      </pc:sldChg>
      <pc:sldChg chg="del">
        <pc:chgData name="K M" userId="2b3391da7c8b99bc" providerId="LiveId" clId="{07AD3D1F-E3CF-4232-871C-9423B84F6F4C}" dt="2025-07-02T21:31:21.384" v="0" actId="2696"/>
        <pc:sldMkLst>
          <pc:docMk/>
          <pc:sldMk cId="1432088591" sldId="306"/>
        </pc:sldMkLst>
      </pc:sldChg>
      <pc:sldChg chg="del">
        <pc:chgData name="K M" userId="2b3391da7c8b99bc" providerId="LiveId" clId="{07AD3D1F-E3CF-4232-871C-9423B84F6F4C}" dt="2025-07-02T21:33:09.816" v="23" actId="2696"/>
        <pc:sldMkLst>
          <pc:docMk/>
          <pc:sldMk cId="2874917147" sldId="309"/>
        </pc:sldMkLst>
      </pc:sldChg>
    </pc:docChg>
  </pc:docChgLst>
  <pc:docChgLst>
    <pc:chgData name="K M" userId="2b3391da7c8b99bc" providerId="LiveId" clId="{003C05E4-B438-499F-A8D6-EE8A42D08AF1}"/>
    <pc:docChg chg="undo custSel addSld delSld modSld">
      <pc:chgData name="K M" userId="2b3391da7c8b99bc" providerId="LiveId" clId="{003C05E4-B438-499F-A8D6-EE8A42D08AF1}" dt="2024-07-22T22:57:00.022" v="491" actId="27636"/>
      <pc:docMkLst>
        <pc:docMk/>
      </pc:docMkLst>
      <pc:sldChg chg="addSp delSp modSp mod">
        <pc:chgData name="K M" userId="2b3391da7c8b99bc" providerId="LiveId" clId="{003C05E4-B438-499F-A8D6-EE8A42D08AF1}" dt="2024-07-22T22:57:00.022" v="491" actId="27636"/>
        <pc:sldMkLst>
          <pc:docMk/>
          <pc:sldMk cId="1109332271" sldId="288"/>
        </pc:sldMkLst>
      </pc:sldChg>
      <pc:sldChg chg="delSp modSp mod delAnim">
        <pc:chgData name="K M" userId="2b3391da7c8b99bc" providerId="LiveId" clId="{003C05E4-B438-499F-A8D6-EE8A42D08AF1}" dt="2024-06-03T13:32:11.336" v="55" actId="1076"/>
        <pc:sldMkLst>
          <pc:docMk/>
          <pc:sldMk cId="1109332271" sldId="299"/>
        </pc:sldMkLst>
      </pc:sldChg>
      <pc:sldChg chg="modSp del mod">
        <pc:chgData name="K M" userId="2b3391da7c8b99bc" providerId="LiveId" clId="{003C05E4-B438-499F-A8D6-EE8A42D08AF1}" dt="2024-07-15T21:59:36.170" v="440" actId="2696"/>
        <pc:sldMkLst>
          <pc:docMk/>
          <pc:sldMk cId="2960976296" sldId="303"/>
        </pc:sldMkLst>
      </pc:sldChg>
      <pc:sldChg chg="modSp mod">
        <pc:chgData name="K M" userId="2b3391da7c8b99bc" providerId="LiveId" clId="{003C05E4-B438-499F-A8D6-EE8A42D08AF1}" dt="2024-07-15T21:59:48.669" v="448" actId="6549"/>
        <pc:sldMkLst>
          <pc:docMk/>
          <pc:sldMk cId="1432088591" sldId="306"/>
        </pc:sldMkLst>
      </pc:sldChg>
      <pc:sldChg chg="modSp mod">
        <pc:chgData name="K M" userId="2b3391da7c8b99bc" providerId="LiveId" clId="{003C05E4-B438-499F-A8D6-EE8A42D08AF1}" dt="2024-06-03T14:26:18.415" v="422" actId="20577"/>
        <pc:sldMkLst>
          <pc:docMk/>
          <pc:sldMk cId="1426203282" sldId="308"/>
        </pc:sldMkLst>
      </pc:sldChg>
      <pc:sldChg chg="del">
        <pc:chgData name="K M" userId="2b3391da7c8b99bc" providerId="LiveId" clId="{003C05E4-B438-499F-A8D6-EE8A42D08AF1}" dt="2024-06-03T13:27:35.565" v="1" actId="2696"/>
        <pc:sldMkLst>
          <pc:docMk/>
          <pc:sldMk cId="2749595760" sldId="311"/>
        </pc:sldMkLst>
      </pc:sldChg>
      <pc:sldChg chg="addSp delSp modSp new mod">
        <pc:chgData name="K M" userId="2b3391da7c8b99bc" providerId="LiveId" clId="{003C05E4-B438-499F-A8D6-EE8A42D08AF1}" dt="2024-06-03T14:06:48.352" v="272" actId="1076"/>
        <pc:sldMkLst>
          <pc:docMk/>
          <pc:sldMk cId="3728478164" sldId="311"/>
        </pc:sldMkLst>
      </pc:sldChg>
      <pc:sldChg chg="addSp delSp modSp new mod">
        <pc:chgData name="K M" userId="2b3391da7c8b99bc" providerId="LiveId" clId="{003C05E4-B438-499F-A8D6-EE8A42D08AF1}" dt="2024-06-03T13:35:06.499" v="84" actId="255"/>
        <pc:sldMkLst>
          <pc:docMk/>
          <pc:sldMk cId="367761090" sldId="312"/>
        </pc:sldMkLst>
      </pc:sldChg>
      <pc:sldChg chg="del">
        <pc:chgData name="K M" userId="2b3391da7c8b99bc" providerId="LiveId" clId="{003C05E4-B438-499F-A8D6-EE8A42D08AF1}" dt="2024-06-03T13:27:10.282" v="0" actId="2696"/>
        <pc:sldMkLst>
          <pc:docMk/>
          <pc:sldMk cId="4279154447" sldId="3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7/2/2025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6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85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65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</a:extLst>
          </p:cNvPr>
          <p:cNvSpPr/>
          <p:nvPr userDrawn="1"/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8168" y="1057522"/>
            <a:ext cx="5003540" cy="217343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5" name="Subtitle 2">
            <a:extLst>
              <a:ext uri="{FF2B5EF4-FFF2-40B4-BE49-F238E27FC236}">
                <a16:creationId xmlns:a16="http://schemas.microsoft.com/office/drawing/2014/main" id="{50BC9D78-FF13-4CEB-8ECB-E64E85C5D0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46643" y="3751119"/>
            <a:ext cx="4985065" cy="1606163"/>
          </a:xfrm>
        </p:spPr>
        <p:txBody>
          <a:bodyPr anchor="t">
            <a:noAutofit/>
          </a:bodyPr>
          <a:lstStyle>
            <a:lvl1pPr>
              <a:defRPr sz="2400" b="0"/>
            </a:lvl1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subtitle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</a:extLst>
          </p:cNvPr>
          <p:cNvSpPr/>
          <p:nvPr userDrawn="1"/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15A37EDE-F10B-4C4B-9572-8778C2D6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5103" y="6309360"/>
            <a:ext cx="4797504" cy="457200"/>
          </a:xfrm>
        </p:spPr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Date Placeholder 35">
            <a:extLst>
              <a:ext uri="{FF2B5EF4-FFF2-40B4-BE49-F238E27FC236}">
                <a16:creationId xmlns:a16="http://schemas.microsoft.com/office/drawing/2014/main" id="{D6890A67-3C66-4F8A-B1A6-05469F40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E82334DA-681A-46EF-9A56-7F4C6ABE7E6A}" type="datetime1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7/1/2025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62" name="Slide Number Placeholder 36">
            <a:extLst>
              <a:ext uri="{FF2B5EF4-FFF2-40B4-BE49-F238E27FC236}">
                <a16:creationId xmlns:a16="http://schemas.microsoft.com/office/drawing/2014/main" id="{46849723-0CBF-47CA-9477-4D42CAC7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/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9936" y="-2"/>
            <a:ext cx="53320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82526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9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475399"/>
            <a:ext cx="6623040" cy="791861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0D7EF23-28EE-4115-879A-D95BBAC662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7179" y="2502047"/>
            <a:ext cx="6623039" cy="3030599"/>
          </a:xfrm>
        </p:spPr>
        <p:txBody>
          <a:bodyPr anchor="t">
            <a:normAutofit/>
          </a:bodyPr>
          <a:lstStyle>
            <a:lvl1pPr>
              <a:defRPr sz="20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4B41004-DE9E-4B19-B7DE-91782B37C8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4348" y="1085431"/>
            <a:ext cx="3997652" cy="5037857"/>
          </a:xfrm>
          <a:custGeom>
            <a:avLst/>
            <a:gdLst>
              <a:gd name="connsiteX0" fmla="*/ 0 w 3997652"/>
              <a:gd name="connsiteY0" fmla="*/ 0 h 5037857"/>
              <a:gd name="connsiteX1" fmla="*/ 3997652 w 3997652"/>
              <a:gd name="connsiteY1" fmla="*/ 0 h 5037857"/>
              <a:gd name="connsiteX2" fmla="*/ 3997652 w 3997652"/>
              <a:gd name="connsiteY2" fmla="*/ 5037857 h 5037857"/>
              <a:gd name="connsiteX3" fmla="*/ 0 w 3997652"/>
              <a:gd name="connsiteY3" fmla="*/ 5037857 h 503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7652" h="5037857">
                <a:moveTo>
                  <a:pt x="0" y="0"/>
                </a:moveTo>
                <a:lnTo>
                  <a:pt x="3997652" y="0"/>
                </a:lnTo>
                <a:lnTo>
                  <a:pt x="3997652" y="5037857"/>
                </a:lnTo>
                <a:lnTo>
                  <a:pt x="0" y="5037857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fld id="{C7049658-B31A-4F62-9996-2FC707C5F2CD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348373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DEFA91-CCB3-4B9E-9CFC-AA9D92073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46177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5915" y="673308"/>
            <a:ext cx="6457717" cy="158089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5">
            <a:extLst>
              <a:ext uri="{FF2B5EF4-FFF2-40B4-BE49-F238E27FC236}">
                <a16:creationId xmlns:a16="http://schemas.microsoft.com/office/drawing/2014/main" id="{6198A97B-719D-4F79-A04B-46EE272A1D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461004"/>
            <a:ext cx="4613547" cy="3396996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79E62157-5D84-47E4-9718-5408E1C7E7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13548" cy="3396994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51E6FEF-934C-427E-A65F-F501B04FC71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05918" y="2353586"/>
            <a:ext cx="6457717" cy="3767496"/>
          </a:xfrm>
        </p:spPr>
        <p:txBody>
          <a:bodyPr anchor="t">
            <a:normAutofit/>
          </a:bodyPr>
          <a:lstStyle>
            <a:lvl1pPr>
              <a:defRPr sz="1600" b="0" baseline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A12CF76-B207-465C-A494-3C57818A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06" y="6309360"/>
            <a:ext cx="4097030" cy="457200"/>
          </a:xfrm>
        </p:spPr>
        <p:txBody>
          <a:bodyPr/>
          <a:lstStyle>
            <a:lvl1pPr>
              <a:defRPr>
                <a:effectLst>
                  <a:outerShdw blurRad="50800" dist="38100" dir="240000" algn="ctr" rotWithShape="0">
                    <a:schemeClr val="tx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F682261-0FB4-4600-86B5-DDF27881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5303" y="6309360"/>
            <a:ext cx="3411973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fld id="{07B0C15C-146D-42C9-B24A-389A27E5FC3F}" type="datetime1">
              <a:rPr lang="en-US" smtClean="0">
                <a:solidFill>
                  <a:schemeClr val="tx2"/>
                </a:solidFill>
              </a:rPr>
              <a:pPr/>
              <a:t>7/1/2025</a:t>
            </a:fld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32EB37A-06D5-4BC7-BC11-75B1719B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52293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</a:extLst>
          </p:cNvPr>
          <p:cNvSpPr/>
          <p:nvPr userDrawn="1"/>
        </p:nvSpPr>
        <p:spPr>
          <a:xfrm>
            <a:off x="7547855" y="-4078"/>
            <a:ext cx="4641096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</a:extLst>
          </p:cNvPr>
          <p:cNvSpPr/>
          <p:nvPr userDrawn="1"/>
        </p:nvSpPr>
        <p:spPr>
          <a:xfrm>
            <a:off x="7585468" y="1095508"/>
            <a:ext cx="46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3F61843-5C9C-49E0-8A90-64085BC79F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73503" y="1709530"/>
            <a:ext cx="3754671" cy="2528515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600" b="1" cap="none" dirty="0">
                <a:solidFill>
                  <a:schemeClr val="tx2"/>
                </a:solidFill>
              </a:rPr>
              <a:t>Click to add title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6914" y="4238046"/>
            <a:ext cx="3806919" cy="1741404"/>
          </a:xfrm>
        </p:spPr>
        <p:txBody>
          <a:bodyPr anchor="t">
            <a:normAutofit/>
          </a:bodyPr>
          <a:lstStyle>
            <a:lvl1pPr>
              <a:defRPr sz="16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</a:extLst>
          </p:cNvPr>
          <p:cNvSpPr/>
          <p:nvPr userDrawn="1"/>
        </p:nvSpPr>
        <p:spPr>
          <a:xfrm>
            <a:off x="0" y="6144405"/>
            <a:ext cx="7534656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</a:extLst>
          </p:cNvPr>
          <p:cNvSpPr/>
          <p:nvPr userDrawn="1"/>
        </p:nvSpPr>
        <p:spPr>
          <a:xfrm>
            <a:off x="7585468" y="6167615"/>
            <a:ext cx="46034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</a:extLst>
          </p:cNvPr>
          <p:cNvSpPr/>
          <p:nvPr userDrawn="1"/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095509"/>
            <a:ext cx="7519932" cy="5016892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6404905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EBA854-A26D-41C5-9D40-DF6B49ACB136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5BFA7-EB65-4E20-A693-324FEF74D3AE}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E9218-0397-4231-81F4-03972AB6A3DD}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1905177-1789-44BB-950A-7018653E6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1044054"/>
            <a:ext cx="10013709" cy="1030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4B8C-C655-4441-A7FF-616EF634E6E1}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9301A4-3CA9-4D0E-944E-1BE5921FA0B3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A9C29C55-D1EC-4DD4-BA5B-11E4AB15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732061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C31C8C6B-3212-41F0-A8A1-4A6A700A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9360"/>
            <a:ext cx="2148840" cy="457200"/>
          </a:xfrm>
        </p:spPr>
        <p:txBody>
          <a:bodyPr/>
          <a:lstStyle/>
          <a:p>
            <a:fld id="{DDA8E063-DAA4-4787-8AA1-15BBB2D38CED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7357410-255F-470C-AD92-44B15997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512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1044054"/>
            <a:ext cx="10013709" cy="1030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732061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9ADD171-0134-4347-A2D8-0B9D7634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9360"/>
            <a:ext cx="2148840" cy="457200"/>
          </a:xfrm>
        </p:spPr>
        <p:txBody>
          <a:bodyPr/>
          <a:lstStyle/>
          <a:p>
            <a:fld id="{DDA8E063-DAA4-4787-8AA1-15BBB2D38CED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6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8A107B-E23F-4793-95B4-335240DB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51118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568F3C-8CA8-489A-9870-E2C458355C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4615126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4615126 w 12192000"/>
              <a:gd name="connsiteY3" fmla="*/ 6858000 h 6858000"/>
              <a:gd name="connsiteX4" fmla="*/ 0 w 12192000"/>
              <a:gd name="connsiteY4" fmla="*/ 0 h 6858000"/>
              <a:gd name="connsiteX5" fmla="*/ 4551118 w 12192000"/>
              <a:gd name="connsiteY5" fmla="*/ 0 h 6858000"/>
              <a:gd name="connsiteX6" fmla="*/ 4551118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615126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4615126" y="6858000"/>
                </a:lnTo>
                <a:close/>
                <a:moveTo>
                  <a:pt x="0" y="0"/>
                </a:moveTo>
                <a:lnTo>
                  <a:pt x="4551118" y="0"/>
                </a:lnTo>
                <a:lnTo>
                  <a:pt x="455111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C14E8-F37D-4BEA-9D62-5E707EDF0D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25" y="1095508"/>
            <a:ext cx="4606535" cy="3936931"/>
          </a:xfrm>
          <a:solidFill>
            <a:schemeClr val="tx2"/>
          </a:solidFill>
        </p:spPr>
        <p:txBody>
          <a:bodyPr rIns="365760" anchor="b"/>
          <a:lstStyle>
            <a:lvl1pPr marL="365760">
              <a:lnSpc>
                <a:spcPct val="100000"/>
              </a:lnSpc>
              <a:spcBef>
                <a:spcPts val="1000"/>
              </a:spcBef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84D33-9C88-49E6-8F90-05148C5496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1726" y="5032439"/>
            <a:ext cx="4606535" cy="1079962"/>
          </a:xfrm>
          <a:solidFill>
            <a:schemeClr val="tx2"/>
          </a:solidFill>
        </p:spPr>
        <p:txBody>
          <a:bodyPr anchor="ctr"/>
          <a:lstStyle>
            <a:lvl1pPr marL="365760">
              <a:spcBef>
                <a:spcPts val="1000"/>
              </a:spcBef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5CD820E0-0083-439B-A9DE-C3DEA1DE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D8A8D931-E01B-43C0-806F-2413BF59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50E1EA-44FA-4D89-855F-C0B34F87238D}" type="datetime1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0F3F4E6D-F4D2-430F-A2C3-3C037D77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3158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9F91A3C-7ABB-4E5E-B04F-29DB072AE13C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B9AABE-3FBC-4E64-8672-D073D4A3F412}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FF13AE-FEBF-40A1-A799-6EB275CBBCB5}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EACBDB11-07EC-4982-BBFA-8EECF50C7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2251"/>
            <a:ext cx="10013709" cy="1030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B21770-EBB9-4C73-BE13-26901F3CC9FB}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72AFA4-5141-4F0F-B9F6-0BE3ADBED218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41DE758B-03CF-48F8-BCBE-AD97B704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1640606E-041A-4385-96D7-3C6E775E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9360"/>
            <a:ext cx="2148840" cy="457200"/>
          </a:xfrm>
        </p:spPr>
        <p:txBody>
          <a:bodyPr/>
          <a:lstStyle/>
          <a:p>
            <a:fld id="{CC5D4559-6AE3-461A-A02E-915BACCC2124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35844B60-1EF6-4A90-9030-B5043BCD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F0EE079C-10D4-4C0C-8F48-80E7161005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91431" y="908329"/>
            <a:ext cx="2029968" cy="20299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EF9D7489-BAB3-49B7-B83B-9F6131DC9D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34461" y="908329"/>
            <a:ext cx="2029968" cy="20299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BC0EEF5C-B219-4286-B517-426EDF4EAF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77491" y="908329"/>
            <a:ext cx="2029968" cy="20299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66462103-08B6-4C6F-88CC-03FF546261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20521" y="908329"/>
            <a:ext cx="2029968" cy="20299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278BA700-11E2-4D8A-A0C6-7CE3C00EC7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1431" y="3060803"/>
            <a:ext cx="2029968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  <a:buNone/>
              <a:defRPr lang="en-US" sz="1800" b="1" kern="1200" spc="2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F5914669-6EB5-485E-AB8B-3A2E4F1718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1431" y="3365169"/>
            <a:ext cx="2029968" cy="27432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kern="1200" spc="2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59BCC58C-2434-490A-8749-D8311B9025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34461" y="3060803"/>
            <a:ext cx="2029968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  <a:buNone/>
              <a:defRPr lang="en-US" sz="1800" b="1" kern="1200" spc="2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8FD90DAF-BAFA-4B9E-A682-AD69AEC3A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4461" y="3365169"/>
            <a:ext cx="2029968" cy="27432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b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5E3B0A9D-DD75-43E3-A689-283E65DF3F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77491" y="3060803"/>
            <a:ext cx="2029968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  <a:buNone/>
              <a:defRPr lang="en-US" sz="1800" b="1" kern="1200" spc="2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EA0EDFB3-D33B-471A-B50B-93FB685241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7491" y="3365169"/>
            <a:ext cx="2029968" cy="27432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b="0" kern="1200" spc="2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39A96C54-26D5-4B10-A345-F6C034F2E7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0521" y="3060803"/>
            <a:ext cx="2029968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  <a:buNone/>
              <a:defRPr lang="en-US" sz="1800" b="1" kern="1200" spc="2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4316B0AE-245F-4164-BF74-B514BA424C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20521" y="3365169"/>
            <a:ext cx="2029968" cy="27432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b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725997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2251"/>
            <a:ext cx="10013709" cy="1030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9360"/>
            <a:ext cx="2148840" cy="457200"/>
          </a:xfrm>
        </p:spPr>
        <p:txBody>
          <a:bodyPr/>
          <a:lstStyle/>
          <a:p>
            <a:fld id="{CC5D4559-6AE3-461A-A02E-915BACCC2124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9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903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8F3F22-19C9-4C61-8202-3220217D2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180644"/>
            <a:ext cx="10900146" cy="935776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94B471-6707-4251-8230-A51AED0767C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8934" y="1834005"/>
            <a:ext cx="4727735" cy="465155"/>
          </a:xfr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2000" b="1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986D97-E6F1-49E8-977A-C802B4E41B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934" y="2422380"/>
            <a:ext cx="4727735" cy="3029446"/>
          </a:xfrm>
        </p:spPr>
        <p:txBody>
          <a:bodyPr anchor="t">
            <a:noAutofit/>
          </a:bodyPr>
          <a:lstStyle>
            <a:lvl1pPr marL="283464" indent="-283464">
              <a:buFont typeface="Arial" panose="020B0604020202020204" pitchFamily="34" charset="0"/>
              <a:buChar char="•"/>
              <a:defRPr sz="1600" b="0" baseline="0"/>
            </a:lvl1pPr>
          </a:lstStyle>
          <a:p>
            <a:r>
              <a:rPr lang="en-US" dirty="0"/>
              <a:t> Click to add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62163C0-B07F-43E4-B17C-2E6A96553B9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5999" y="1834004"/>
            <a:ext cx="4727735" cy="465155"/>
          </a:xfr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2000" b="1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098FA6D-3C80-4FE1-B248-1CA2B6862F6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5999" y="2422380"/>
            <a:ext cx="4727735" cy="3029446"/>
          </a:xfrm>
        </p:spPr>
        <p:txBody>
          <a:bodyPr anchor="t">
            <a:noAutofit/>
          </a:bodyPr>
          <a:lstStyle>
            <a:lvl1pPr marL="283464" indent="-283464">
              <a:buFont typeface="Arial" panose="020B0604020202020204" pitchFamily="34" charset="0"/>
              <a:buChar char="•"/>
              <a:defRPr sz="1600" b="0" baseline="0"/>
            </a:lvl1pPr>
          </a:lstStyle>
          <a:p>
            <a:r>
              <a:rPr lang="en-US" dirty="0"/>
              <a:t> Click to 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9E41B7-A2DB-4285-A7A5-A1084718EB55}" type="datetime1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10364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725A2F16-8CE0-4F2E-933C-EFDFB1E19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C70705-E2EE-4992-AE78-FDBE1285C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903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C428A7-7771-4474-8BB4-8A6F0FEF87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180644"/>
            <a:ext cx="10900146" cy="935776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730F6-0DF6-48BC-86CC-00BE18350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31104-1E19-4E17-A3FE-2B2C55134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2CEB59E-1776-4FF1-BF4D-A33B618FD5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8935" y="1834005"/>
            <a:ext cx="3519028" cy="465155"/>
          </a:xfr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2000" b="1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B55E76-BA79-44AC-B206-DA13D60FDA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935" y="2419555"/>
            <a:ext cx="3519028" cy="3197260"/>
          </a:xfrm>
        </p:spPr>
        <p:txBody>
          <a:bodyPr anchor="t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600" b="0" baseline="0"/>
            </a:lvl1pPr>
          </a:lstStyle>
          <a:p>
            <a:r>
              <a:rPr lang="en-US" dirty="0"/>
              <a:t> Click to add text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0518C4D-71E5-4211-A191-A8ED7185DED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336486" y="1828356"/>
            <a:ext cx="3519028" cy="465155"/>
          </a:xfr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2000" b="1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7EF9B63-4443-4EE5-A88B-2F1FA4CC404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336486" y="2419555"/>
            <a:ext cx="3519028" cy="3197260"/>
          </a:xfrm>
        </p:spPr>
        <p:txBody>
          <a:bodyPr anchor="t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600" b="0" baseline="0"/>
            </a:lvl1pPr>
          </a:lstStyle>
          <a:p>
            <a:r>
              <a:rPr lang="en-US" dirty="0"/>
              <a:t> Click to add 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54FF8D9-50D3-4515-B896-B127F664C1E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24037" y="1834005"/>
            <a:ext cx="3519028" cy="465155"/>
          </a:xfr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2000" b="1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95B62E8-2D9A-443A-8560-D347C470389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024037" y="2419555"/>
            <a:ext cx="3519028" cy="3197260"/>
          </a:xfrm>
        </p:spPr>
        <p:txBody>
          <a:bodyPr anchor="t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600" b="0" baseline="0"/>
            </a:lvl1pPr>
          </a:lstStyle>
          <a:p>
            <a:r>
              <a:rPr lang="en-US" dirty="0"/>
              <a:t> 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A7A17E-1562-4B10-9BC8-AB6B45E6B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7258C-9B58-4DC0-BC98-826A38D4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29">
            <a:extLst>
              <a:ext uri="{FF2B5EF4-FFF2-40B4-BE49-F238E27FC236}">
                <a16:creationId xmlns:a16="http://schemas.microsoft.com/office/drawing/2014/main" id="{2F8E2987-7F65-44D5-B3AD-776ECF8D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Date Placeholder 28">
            <a:extLst>
              <a:ext uri="{FF2B5EF4-FFF2-40B4-BE49-F238E27FC236}">
                <a16:creationId xmlns:a16="http://schemas.microsoft.com/office/drawing/2014/main" id="{08BD4E48-A35B-4475-BC85-E58DA292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9E41B7-A2DB-4285-A7A5-A1084718EB55}" type="datetime1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11" name="Slide Number Placeholder 30">
            <a:extLst>
              <a:ext uri="{FF2B5EF4-FFF2-40B4-BE49-F238E27FC236}">
                <a16:creationId xmlns:a16="http://schemas.microsoft.com/office/drawing/2014/main" id="{FBDAEBAB-F3AA-4DB3-96B7-6387085C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5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53C66564-535A-4715-9B27-B8AB14F77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21E99-F411-4BAB-8211-C344272A2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29B7F2A-CF10-474B-91F1-7C50A7DAF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6668" y="537381"/>
            <a:ext cx="6172412" cy="103192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F0D6D9-A64A-415F-BA44-494062CA6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7B49C-9749-4042-A729-C27F58365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49324"/>
            <a:ext cx="46177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B79F49-5021-4A8F-A90A-5E08F7FB5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6655"/>
            <a:ext cx="46177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B6E270BA-010E-406C-8FBF-0ED0DA28D0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-3"/>
            <a:ext cx="4613544" cy="2249321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6E15371C-3F24-44D7-97EB-74C12D53CB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311339"/>
            <a:ext cx="4613544" cy="2241520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E39E0BDE-5895-4B94-90AC-7045292B0B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4613572"/>
            <a:ext cx="4613544" cy="2241520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8823570-AC4F-4679-98CA-DC7F7B2CC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76671" y="1735745"/>
            <a:ext cx="6172412" cy="3767496"/>
          </a:xfrm>
        </p:spPr>
        <p:txBody>
          <a:bodyPr anchor="t">
            <a:normAutofit/>
          </a:bodyPr>
          <a:lstStyle>
            <a:lvl1pPr>
              <a:buFont typeface="Arial" panose="020B0604020202020204" pitchFamily="34" charset="0"/>
              <a:buNone/>
              <a:defRPr sz="1600" b="0"/>
            </a:lvl1pPr>
          </a:lstStyle>
          <a:p>
            <a:r>
              <a:rPr lang="en-US" dirty="0"/>
              <a:t> Click to add text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B6B62FA-FEDE-42B0-8B7B-24AE138E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27151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9E8578BE-8DB2-4FE6-B45A-2B3415CE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6668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2546992-DEFF-4765-9FB8-C2ACF446503A}" type="datetime1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F7C96F-C1E5-45F5-B070-2D025E7B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5778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1138041"/>
            <a:ext cx="4862811" cy="201948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5" name="Picture Placeholder 21">
            <a:extLst>
              <a:ext uri="{FF2B5EF4-FFF2-40B4-BE49-F238E27FC236}">
                <a16:creationId xmlns:a16="http://schemas.microsoft.com/office/drawing/2014/main" id="{8B745891-A8DA-4640-BB3F-1693FC5AC4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8023" y="4941"/>
            <a:ext cx="5333977" cy="3392053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Picture Placeholder 21">
            <a:extLst>
              <a:ext uri="{FF2B5EF4-FFF2-40B4-BE49-F238E27FC236}">
                <a16:creationId xmlns:a16="http://schemas.microsoft.com/office/drawing/2014/main" id="{BC2DF568-4EA5-4F79-980F-47FC90AEA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67712" y="3461002"/>
            <a:ext cx="5728215" cy="3396997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4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fld id="{F6852FE2-76E6-44F3-971E-3B1E6B948E41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76705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76671" y="6309360"/>
            <a:ext cx="454961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AAE613A3-7427-4A9A-9B2A-23B005FA5F48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2918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9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https://youtu.be/ohRhfcCCCGY?si=vPCaJQGU2L2tYg5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youtu.be/25TNJZnEbXM?si=BAsnQHkAl3uMRMHt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s://www.gandgcpas.com/about-us/antonia-toni-gentry/" TargetMode="External"/><Relationship Id="rId2" Type="http://schemas.openxmlformats.org/officeDocument/2006/relationships/hyperlink" Target="file:///C:\Users\keish\OneDrive\Desktop\KLM\Herschel%20Bowens%20Bio.pdf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file:///C:\Users\keish\OneDrive\Desktop\KLM\Travis%20Perry%20Bio.pdf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168" y="1057522"/>
            <a:ext cx="5120975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WELCOME</a:t>
            </a:r>
          </a:p>
        </p:txBody>
      </p:sp>
      <p:pic>
        <p:nvPicPr>
          <p:cNvPr id="41" name="Picture Placeholder 40" descr="A large room with glass walls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9936" y="-2"/>
            <a:ext cx="5332064" cy="6858002"/>
          </a:xfrm>
        </p:spPr>
      </p:pic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7"/>
    </mc:Choice>
    <mc:Fallback xmlns="">
      <p:transition spd="slow" advTm="110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DB7E63-0AD5-451A-9802-48AB1D44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915" y="673308"/>
            <a:ext cx="6457717" cy="1580890"/>
          </a:xfrm>
        </p:spPr>
        <p:txBody>
          <a:bodyPr/>
          <a:lstStyle/>
          <a:p>
            <a:r>
              <a:rPr lang="en-US" dirty="0"/>
              <a:t>Introductions</a:t>
            </a:r>
          </a:p>
        </p:txBody>
      </p:sp>
      <p:pic>
        <p:nvPicPr>
          <p:cNvPr id="16" name="Picture Placeholder 15" descr="Graph, tables and charts">
            <a:extLst>
              <a:ext uri="{FF2B5EF4-FFF2-40B4-BE49-F238E27FC236}">
                <a16:creationId xmlns:a16="http://schemas.microsoft.com/office/drawing/2014/main" id="{E1DA0A58-7C3B-4F53-80D8-6355E31465F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461004"/>
            <a:ext cx="4613547" cy="3396996"/>
          </a:xfrm>
        </p:spPr>
      </p:pic>
      <p:pic>
        <p:nvPicPr>
          <p:cNvPr id="26" name="Picture Placeholder 25" descr="People around a desk working ">
            <a:extLst>
              <a:ext uri="{FF2B5EF4-FFF2-40B4-BE49-F238E27FC236}">
                <a16:creationId xmlns:a16="http://schemas.microsoft.com/office/drawing/2014/main" id="{FBFF4B36-5D7D-42A6-A89B-A0A83CB0C2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13548" cy="3396994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9D770A-D8B9-4D5E-BB61-CD763E29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363" y="2216755"/>
            <a:ext cx="6457717" cy="730625"/>
          </a:xfrm>
        </p:spPr>
        <p:txBody>
          <a:bodyPr/>
          <a:lstStyle/>
          <a:p>
            <a:r>
              <a:rPr lang="en-US" dirty="0"/>
              <a:t>Keisha McCarden, Realtor</a:t>
            </a:r>
          </a:p>
          <a:p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0C89215-7880-40F7-A389-2C9A09EE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06" y="6309360"/>
            <a:ext cx="4097030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CFAACA4-65B8-42F6-BCD5-C3D1E8D9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5140633-D44C-AB91-1956-A3AEE07F2D0E}"/>
              </a:ext>
            </a:extLst>
          </p:cNvPr>
          <p:cNvSpPr txBox="1">
            <a:spLocks/>
          </p:cNvSpPr>
          <p:nvPr/>
        </p:nvSpPr>
        <p:spPr>
          <a:xfrm>
            <a:off x="5091362" y="2947380"/>
            <a:ext cx="6457717" cy="1398595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Quinesha</a:t>
            </a:r>
            <a:r>
              <a:rPr lang="en-US" dirty="0"/>
              <a:t> “Nikki” Hawkins, Realtor Specializing in Commercial Real Estate and Development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3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15D6-F2B9-8C0B-5895-02C41251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8BC6-83D5-BEC9-48E0-D0AF2DA3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E063-DAA4-4787-8AA1-15BBB2D38CED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D65DF-CCBC-84AA-9817-230BAEC3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69623-56C4-F6F1-C509-78D1C6ECEB20}"/>
              </a:ext>
            </a:extLst>
          </p:cNvPr>
          <p:cNvSpPr txBox="1"/>
          <p:nvPr/>
        </p:nvSpPr>
        <p:spPr>
          <a:xfrm>
            <a:off x="1535371" y="2794958"/>
            <a:ext cx="101275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 dirty="0">
                <a:solidFill>
                  <a:srgbClr val="1D2228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Empowering communities through strategic investments, our mission is to cultivate prosperous opportunities and sustainable growth in the real estate landscape. With integrity, innovation, and a commitment to excellence, we aim to deliver unparalleled value to our stakeholders while positively impacting the neighborhoods we serve.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776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3383" y="870804"/>
            <a:ext cx="4433977" cy="1201547"/>
          </a:xfrm>
        </p:spPr>
        <p:txBody>
          <a:bodyPr/>
          <a:lstStyle/>
          <a:p>
            <a:r>
              <a:rPr lang="en-US" dirty="0"/>
              <a:t>What is a REIT?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3383" y="2160840"/>
            <a:ext cx="4433977" cy="3754915"/>
          </a:xfrm>
        </p:spPr>
        <p:txBody>
          <a:bodyPr>
            <a:normAutofit fontScale="85000" lnSpcReduction="20000"/>
          </a:bodyPr>
          <a:lstStyle/>
          <a:p>
            <a:r>
              <a:rPr lang="en-US" sz="1900" b="0" i="0" dirty="0">
                <a:solidFill>
                  <a:srgbClr val="2A2B2C"/>
                </a:solidFill>
                <a:effectLst/>
                <a:latin typeface="SuisseIntl"/>
              </a:rPr>
              <a:t>A real estate investment trust (“REIT”) is a company that owns, operates or finances income-producing real estate. REITs provide an investment opportunity, like a mutual fund, that makes it possible for everyday Americans—not just Wall Street, banks, and hedge funds—to benefit from valuable real estate, present the opportunity to access dividend-based income and total returns, and help communities grow, thrive, and revitalize. </a:t>
            </a:r>
          </a:p>
          <a:p>
            <a:r>
              <a:rPr lang="en-US" sz="1300" dirty="0">
                <a:solidFill>
                  <a:srgbClr val="2A2B2C"/>
                </a:solidFill>
                <a:latin typeface="SuisseIntl"/>
              </a:rPr>
              <a:t>(reit.com)</a:t>
            </a:r>
          </a:p>
        </p:txBody>
      </p:sp>
      <p:pic>
        <p:nvPicPr>
          <p:cNvPr id="5" name="Picture Placeholder 4" descr="People in the middle of a circular room ">
            <a:extLst>
              <a:ext uri="{FF2B5EF4-FFF2-40B4-BE49-F238E27FC236}">
                <a16:creationId xmlns:a16="http://schemas.microsoft.com/office/drawing/2014/main" id="{0CEB905B-7FDD-4B1A-96BF-B5A081A25F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95509"/>
            <a:ext cx="7519932" cy="5016892"/>
          </a:xfrm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E67981-079D-4463-B997-67E6CA0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3"/>
            <a:ext cx="10013709" cy="1552497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SuisseIntl"/>
              </a:rPr>
              <a:t>How does a company qualify as a REIT?</a:t>
            </a:r>
            <a:br>
              <a:rPr lang="en-US" b="0" i="0" dirty="0">
                <a:effectLst/>
                <a:latin typeface="SuisseIntl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BF995-3A96-4426-B458-AE23D831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7B382-010C-E950-9DB2-CE52FB40B96D}"/>
              </a:ext>
            </a:extLst>
          </p:cNvPr>
          <p:cNvSpPr txBox="1"/>
          <p:nvPr/>
        </p:nvSpPr>
        <p:spPr>
          <a:xfrm>
            <a:off x="1621767" y="2355011"/>
            <a:ext cx="937691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To qualify as a REIT a company must: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Invest at least 75% of its total assets in real estate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Derive at least 75% of its gross income from rents from real property, interest on mortgages financing real property or from sales of real estate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Pay at least 90% of its taxable income in the form of shareholder dividends each year (Quarterly Payouts)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Be an entity that is taxable as a corporation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Be managed by a board of directors or trustees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Have a minimum of 100 shareholders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Have no more than 50% of its shares held by five or fewer individuals </a:t>
            </a:r>
            <a:r>
              <a:rPr lang="en-US" sz="1100" dirty="0">
                <a:solidFill>
                  <a:srgbClr val="2A2B2C"/>
                </a:solidFill>
                <a:latin typeface="SuisseIntl"/>
              </a:rPr>
              <a:t>(reit.com)</a:t>
            </a:r>
            <a:endParaRPr lang="en-US" sz="1100" b="0" i="0" dirty="0">
              <a:solidFill>
                <a:srgbClr val="2A2B2C"/>
              </a:solidFill>
              <a:effectLst/>
              <a:latin typeface="SuisseInt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2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F46A-2AB1-B055-50B7-40B53414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SHOULD INVEST?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9FEA-0CD0-CF2A-F95A-5545B3FFD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E063-DAA4-4787-8AA1-15BBB2D38CED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AA66E-4C0C-22FB-6B60-BA05278B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AC7B0-AD7F-D4C2-644F-4D9C4BEEEC1B}"/>
              </a:ext>
            </a:extLst>
          </p:cNvPr>
          <p:cNvSpPr txBox="1"/>
          <p:nvPr/>
        </p:nvSpPr>
        <p:spPr>
          <a:xfrm>
            <a:off x="1967845" y="2610465"/>
            <a:ext cx="8661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This is for LONG TERM INVESTORS ONLY!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People looking to get into real estate investing that may not have the capital alone to do so.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Like minded individuals.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You must be willing to invest for 3 years or more.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Must be willing to reinvest some dividends to keep the trust going!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People looking for passive income.  Let your money work for you!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This NOT a get rich quick scheme.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203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7525-F128-9659-FAFD-334E4857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F902CB-7970-4215-E618-1A94B107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3"/>
            <a:ext cx="10013709" cy="1552497"/>
          </a:xfrm>
        </p:spPr>
        <p:txBody>
          <a:bodyPr>
            <a:normAutofit fontScale="90000"/>
          </a:bodyPr>
          <a:lstStyle/>
          <a:p>
            <a:r>
              <a:rPr lang="en-US" sz="3600" b="0" i="0" dirty="0">
                <a:effectLst/>
                <a:latin typeface="SuisseIntl"/>
              </a:rPr>
              <a:t>Pay at least 90% of its taxable income in the form of shareholder dividends each year (Quarterly Payouts) </a:t>
            </a:r>
            <a:br>
              <a:rPr lang="en-US" sz="3600" b="0" i="0" dirty="0">
                <a:effectLst/>
                <a:latin typeface="SuisseIntl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4A50E-AF4C-672F-DEBD-E209DFA3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F6B5D-7556-52A1-3D1D-14101C494A4F}"/>
              </a:ext>
            </a:extLst>
          </p:cNvPr>
          <p:cNvSpPr txBox="1"/>
          <p:nvPr/>
        </p:nvSpPr>
        <p:spPr>
          <a:xfrm>
            <a:off x="1535370" y="2512327"/>
            <a:ext cx="9376913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b="0" i="0" dirty="0">
                <a:solidFill>
                  <a:srgbClr val="FF0000"/>
                </a:solidFill>
                <a:effectLst/>
                <a:latin typeface="SuisseIntl"/>
              </a:rPr>
              <a:t>EXAMPLE ONLY! </a:t>
            </a:r>
            <a:r>
              <a:rPr lang="en-US" sz="2500" b="0" i="0" dirty="0">
                <a:solidFill>
                  <a:srgbClr val="2A2B2C"/>
                </a:solidFill>
                <a:effectLst/>
                <a:latin typeface="SuisseIntl"/>
              </a:rPr>
              <a:t>(Based on 100 investors - Not Guaranteed Rates):</a:t>
            </a:r>
          </a:p>
          <a:p>
            <a:pPr algn="l"/>
            <a:r>
              <a:rPr lang="en-US" sz="2500" dirty="0">
                <a:solidFill>
                  <a:srgbClr val="2A2B2C"/>
                </a:solidFill>
                <a:latin typeface="SuisseIntl"/>
              </a:rPr>
              <a:t>Year 1 Profits :$30,000 (90% share) = $75 each quarter ($300 year)</a:t>
            </a:r>
          </a:p>
          <a:p>
            <a:pPr algn="l"/>
            <a:r>
              <a:rPr lang="en-US" sz="2500" dirty="0">
                <a:solidFill>
                  <a:srgbClr val="2A2B2C"/>
                </a:solidFill>
                <a:latin typeface="SuisseIntl"/>
              </a:rPr>
              <a:t>Year 2 Profits: $60,000 (90% share) = $150 each quarter ($600 year)</a:t>
            </a:r>
          </a:p>
          <a:p>
            <a:pPr algn="l"/>
            <a:r>
              <a:rPr lang="en-US" sz="2500" dirty="0">
                <a:solidFill>
                  <a:srgbClr val="2A2B2C"/>
                </a:solidFill>
                <a:latin typeface="SuisseIntl"/>
              </a:rPr>
              <a:t>Year 3 Profits: $90,000 (90% share) = $225 each quarter ($900 year)</a:t>
            </a:r>
          </a:p>
          <a:p>
            <a:pPr algn="l"/>
            <a:r>
              <a:rPr lang="en-US" sz="2500" dirty="0">
                <a:solidFill>
                  <a:srgbClr val="2A2B2C"/>
                </a:solidFill>
                <a:latin typeface="SuisseIntl"/>
              </a:rPr>
              <a:t>Year 4 Profits: $120,000 (90% share) = $300 each quarter ($1200 year)</a:t>
            </a:r>
          </a:p>
          <a:p>
            <a:pPr algn="l"/>
            <a:endParaRPr lang="en-US" sz="2500" b="0" i="0" dirty="0">
              <a:solidFill>
                <a:srgbClr val="2A2B2C"/>
              </a:solidFill>
              <a:effectLst/>
              <a:latin typeface="SuisseIntl"/>
            </a:endParaRPr>
          </a:p>
          <a:p>
            <a:pPr algn="l"/>
            <a:endParaRPr lang="en-US" sz="1100" b="0" i="0" dirty="0">
              <a:solidFill>
                <a:srgbClr val="2A2B2C"/>
              </a:solidFill>
              <a:effectLst/>
              <a:latin typeface="SuisseIntl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C521B-749F-EE33-78CD-BAE3C103CC25}"/>
              </a:ext>
            </a:extLst>
          </p:cNvPr>
          <p:cNvSpPr txBox="1"/>
          <p:nvPr/>
        </p:nvSpPr>
        <p:spPr>
          <a:xfrm>
            <a:off x="1535370" y="4990094"/>
            <a:ext cx="937691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2A2B2C"/>
                </a:solidFill>
                <a:effectLst/>
                <a:latin typeface="SuisseIntl"/>
              </a:rPr>
              <a:t>The remaining 10% will be used in paying any fees/taxes and reinvesting in more properties.</a:t>
            </a:r>
          </a:p>
          <a:p>
            <a:pPr algn="l"/>
            <a:r>
              <a:rPr lang="en-US" sz="2000" dirty="0">
                <a:solidFill>
                  <a:srgbClr val="2A2B2C"/>
                </a:solidFill>
                <a:latin typeface="SuisseIntl"/>
              </a:rPr>
              <a:t>As more investors come on more properties will be acquired.</a:t>
            </a:r>
          </a:p>
          <a:p>
            <a:pPr algn="l"/>
            <a:r>
              <a:rPr lang="en-US" sz="2000" b="0" i="0" dirty="0">
                <a:solidFill>
                  <a:srgbClr val="2A2B2C"/>
                </a:solidFill>
                <a:effectLst/>
                <a:latin typeface="SuisseIntl"/>
              </a:rPr>
              <a:t>Y</a:t>
            </a:r>
            <a:r>
              <a:rPr lang="en-US" sz="2000" dirty="0">
                <a:solidFill>
                  <a:srgbClr val="2A2B2C"/>
                </a:solidFill>
                <a:latin typeface="SuisseIntl"/>
              </a:rPr>
              <a:t>ear one and year two investment will be $1000.  </a:t>
            </a:r>
          </a:p>
          <a:p>
            <a:pPr algn="l"/>
            <a:r>
              <a:rPr lang="en-US" sz="2000" dirty="0">
                <a:solidFill>
                  <a:srgbClr val="2A2B2C"/>
                </a:solidFill>
                <a:latin typeface="SuisseIntl"/>
              </a:rPr>
              <a:t>Entry to REIT will increase after year 2.</a:t>
            </a:r>
            <a:endParaRPr lang="en-US" sz="2000" b="0" i="0" dirty="0">
              <a:solidFill>
                <a:srgbClr val="2A2B2C"/>
              </a:solidFill>
              <a:effectLst/>
              <a:latin typeface="SuisseIntl"/>
            </a:endParaRPr>
          </a:p>
          <a:p>
            <a:pPr algn="l"/>
            <a:endParaRPr lang="en-US" sz="1100" b="0" i="0" dirty="0">
              <a:solidFill>
                <a:srgbClr val="2A2B2C"/>
              </a:solidFill>
              <a:effectLst/>
              <a:latin typeface="SuisseInt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6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Placeholder 55" descr="Building Skyline">
            <a:extLst>
              <a:ext uri="{FF2B5EF4-FFF2-40B4-BE49-F238E27FC236}">
                <a16:creationId xmlns:a16="http://schemas.microsoft.com/office/drawing/2014/main" id="{8151A96E-A066-4899-8E11-03CDD28C55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41" name="Title 40">
            <a:extLst>
              <a:ext uri="{FF2B5EF4-FFF2-40B4-BE49-F238E27FC236}">
                <a16:creationId xmlns:a16="http://schemas.microsoft.com/office/drawing/2014/main" id="{1B3AD758-B43F-43DC-8A29-B21D2FA5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5" y="1095508"/>
            <a:ext cx="4606535" cy="3936931"/>
          </a:xfrm>
        </p:spPr>
        <p:txBody>
          <a:bodyPr anchor="b">
            <a:noAutofit/>
          </a:bodyPr>
          <a:lstStyle/>
          <a:p>
            <a:r>
              <a:rPr lang="en-US" dirty="0"/>
              <a:t>THE WAY TO GET STARTED IS TO QUIT TALKING AND BEGIN DOING.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D83C2FF-8BF9-4D9A-90A2-5676AC906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1726" y="5032439"/>
            <a:ext cx="4606535" cy="1079962"/>
          </a:xfrm>
        </p:spPr>
        <p:txBody>
          <a:bodyPr>
            <a:normAutofit/>
          </a:bodyPr>
          <a:lstStyle/>
          <a:p>
            <a:r>
              <a:rPr lang="en-US" dirty="0"/>
              <a:t>Walt Disney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8CCD3357-E9A1-4B6C-ACE7-EBAE9E70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11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3840C7-C442-0960-027A-67865791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Existing</a:t>
            </a:r>
            <a:br>
              <a:rPr lang="en-US" dirty="0"/>
            </a:br>
            <a:r>
              <a:rPr lang="en-US" dirty="0"/>
              <a:t> Real Estate Investment Trusts </a:t>
            </a:r>
            <a:br>
              <a:rPr lang="en-US" dirty="0"/>
            </a:b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08C51C-B568-A1BE-D212-44D92968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E1EA-44FA-4D89-855F-C0B34F87238D}" type="datetime1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1C4AE-F361-9D15-1A01-21FC7E65C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37FB9-0F75-F07A-519A-3EE71B5FC2F1}"/>
              </a:ext>
            </a:extLst>
          </p:cNvPr>
          <p:cNvSpPr txBox="1"/>
          <p:nvPr/>
        </p:nvSpPr>
        <p:spPr>
          <a:xfrm>
            <a:off x="4918267" y="91440"/>
            <a:ext cx="6788989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/>
              <a:t>Tanger</a:t>
            </a:r>
            <a:r>
              <a:rPr lang="en-US" sz="2500" b="1" dirty="0"/>
              <a:t> Inc. </a:t>
            </a:r>
            <a:r>
              <a:rPr lang="en-US" sz="2000" dirty="0"/>
              <a:t>(They own a few outlet malls and other properties.)</a:t>
            </a:r>
          </a:p>
          <a:p>
            <a:endParaRPr lang="en-US" sz="2500" dirty="0"/>
          </a:p>
          <a:p>
            <a:r>
              <a:rPr lang="en-US" sz="2500" b="1" dirty="0"/>
              <a:t>Simon Property Group Inc </a:t>
            </a:r>
            <a:r>
              <a:rPr lang="en-US" sz="2000" dirty="0"/>
              <a:t>(They own Treasure Coast Mall and other malls in South Florida and in the US.)</a:t>
            </a:r>
          </a:p>
          <a:p>
            <a:endParaRPr lang="en-US" sz="2500" dirty="0"/>
          </a:p>
          <a:p>
            <a:r>
              <a:rPr lang="en-US" sz="2500" b="1" dirty="0"/>
              <a:t>Invitation Homes </a:t>
            </a:r>
            <a:r>
              <a:rPr lang="en-US" sz="2000" dirty="0"/>
              <a:t>(They own several rental home properties in Florida and surrounding states.)</a:t>
            </a:r>
          </a:p>
          <a:p>
            <a:endParaRPr lang="en-US" sz="2500" dirty="0"/>
          </a:p>
          <a:p>
            <a:r>
              <a:rPr lang="en-US" sz="2500" b="1" dirty="0"/>
              <a:t>Public Storage </a:t>
            </a:r>
            <a:r>
              <a:rPr lang="en-US" sz="2000" dirty="0"/>
              <a:t>(Self-Storage)</a:t>
            </a:r>
          </a:p>
          <a:p>
            <a:endParaRPr lang="en-US" sz="2500" dirty="0"/>
          </a:p>
          <a:p>
            <a:r>
              <a:rPr lang="en-US" sz="2500" b="1" dirty="0"/>
              <a:t>Cube Smart</a:t>
            </a:r>
            <a:r>
              <a:rPr lang="en-US" sz="2500" dirty="0"/>
              <a:t> </a:t>
            </a:r>
            <a:r>
              <a:rPr lang="en-US" sz="2000" dirty="0"/>
              <a:t>(Self-Storage) </a:t>
            </a:r>
          </a:p>
          <a:p>
            <a:endParaRPr lang="en-US" sz="2500" dirty="0"/>
          </a:p>
          <a:p>
            <a:r>
              <a:rPr lang="en-US" sz="2500" b="1" dirty="0"/>
              <a:t>First Key Homes </a:t>
            </a:r>
            <a:r>
              <a:rPr lang="en-US" sz="2000" dirty="0"/>
              <a:t>(They own several rental home properties in Florida and surrounding states.)</a:t>
            </a:r>
          </a:p>
          <a:p>
            <a:endParaRPr lang="en-US" sz="25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5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94278F-BBE1-4D62-8038-1FE9C98B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017" y="206059"/>
            <a:ext cx="6172412" cy="1031927"/>
          </a:xfrm>
        </p:spPr>
        <p:txBody>
          <a:bodyPr/>
          <a:lstStyle/>
          <a:p>
            <a:r>
              <a:rPr lang="en-US" dirty="0"/>
              <a:t>What’s Next:</a:t>
            </a:r>
          </a:p>
        </p:txBody>
      </p:sp>
      <p:pic>
        <p:nvPicPr>
          <p:cNvPr id="11" name="Picture Placeholder 10" descr="A close - up of a person using a computer">
            <a:extLst>
              <a:ext uri="{FF2B5EF4-FFF2-40B4-BE49-F238E27FC236}">
                <a16:creationId xmlns:a16="http://schemas.microsoft.com/office/drawing/2014/main" id="{2090A0CF-D5B6-46F6-9148-3018C1F682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3"/>
            <a:ext cx="4613544" cy="2249321"/>
          </a:xfrm>
        </p:spPr>
      </p:pic>
      <p:pic>
        <p:nvPicPr>
          <p:cNvPr id="13" name="Picture Placeholder 12" descr="Digital Graph screen reflection">
            <a:extLst>
              <a:ext uri="{FF2B5EF4-FFF2-40B4-BE49-F238E27FC236}">
                <a16:creationId xmlns:a16="http://schemas.microsoft.com/office/drawing/2014/main" id="{FD008D2D-DCC4-47D7-9308-F53E3DC8BA3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2311339"/>
            <a:ext cx="4613544" cy="2241520"/>
          </a:xfrm>
        </p:spPr>
      </p:pic>
      <p:pic>
        <p:nvPicPr>
          <p:cNvPr id="8" name="Picture Placeholder 7" descr="Conference Room">
            <a:extLst>
              <a:ext uri="{FF2B5EF4-FFF2-40B4-BE49-F238E27FC236}">
                <a16:creationId xmlns:a16="http://schemas.microsoft.com/office/drawing/2014/main" id="{13908DB8-E92A-433D-BC79-CFD872B072D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613572"/>
            <a:ext cx="4613544" cy="2241520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7A8109-BBBF-407C-81F8-08088ED99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67" y="1075790"/>
            <a:ext cx="6172412" cy="2956490"/>
          </a:xfrm>
        </p:spPr>
        <p:txBody>
          <a:bodyPr>
            <a:normAutofit fontScale="77500" lnSpcReduction="20000"/>
          </a:bodyPr>
          <a:lstStyle/>
          <a:p>
            <a:r>
              <a:rPr lang="en-US" sz="1400" b="1" dirty="0"/>
              <a:t>POSITIONS OPEN NOW FOR BOARD MEMBERS</a:t>
            </a:r>
          </a:p>
          <a:p>
            <a:r>
              <a:rPr lang="en-US" sz="1400" b="1" dirty="0"/>
              <a:t>LOOKING FOR BOARD MEMBERS WHO WILL BE READY TO START IN SEPTEMBER</a:t>
            </a:r>
          </a:p>
          <a:p>
            <a:r>
              <a:rPr lang="en-US" sz="1400" dirty="0"/>
              <a:t>Retain an Attorney </a:t>
            </a:r>
            <a:r>
              <a:rPr lang="en-US" sz="1400" dirty="0">
                <a:sym typeface="Wingdings" panose="05000000000000000000" pitchFamily="2" charset="2"/>
              </a:rPr>
              <a:t>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Business Entity will be created. </a:t>
            </a:r>
          </a:p>
          <a:p>
            <a:r>
              <a:rPr lang="en-US" sz="1400" dirty="0"/>
              <a:t>Monthly Investor Meetings 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/>
              <a:t>Monthly Onboarding Investor Meetings 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/>
              <a:t>Facebook Group Page will be created </a:t>
            </a:r>
            <a:r>
              <a:rPr lang="en-US" sz="1400" dirty="0">
                <a:sym typeface="Wingdings" panose="05000000000000000000" pitchFamily="2" charset="2"/>
              </a:rPr>
              <a:t></a:t>
            </a:r>
            <a:endParaRPr lang="en-US" sz="1400" dirty="0"/>
          </a:p>
          <a:p>
            <a:r>
              <a:rPr lang="en-US" sz="1400" dirty="0">
                <a:sym typeface="Wingdings" panose="05000000000000000000" pitchFamily="2" charset="2"/>
              </a:rPr>
              <a:t>https://www.facebook.com/share/CftZYVs6kbtVKuZP/</a:t>
            </a:r>
          </a:p>
          <a:p>
            <a:endParaRPr lang="en-US" sz="1400" dirty="0">
              <a:sym typeface="Wingdings" panose="05000000000000000000" pitchFamily="2" charset="2"/>
            </a:endParaRPr>
          </a:p>
          <a:p>
            <a:endParaRPr lang="en-US" sz="14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7A34B0D-1722-4024-BC6E-2A411B0A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271516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5DB2E64-AD14-44FE-948F-FCBEC637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04063F9-FA73-CB15-B675-D1C732C2AFA2}"/>
              </a:ext>
            </a:extLst>
          </p:cNvPr>
          <p:cNvSpPr txBox="1">
            <a:spLocks/>
          </p:cNvSpPr>
          <p:nvPr/>
        </p:nvSpPr>
        <p:spPr>
          <a:xfrm>
            <a:off x="5376667" y="4032280"/>
            <a:ext cx="6243113" cy="2575554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None/>
              <a:defRPr sz="16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LEARN MORE:</a:t>
            </a:r>
          </a:p>
          <a:p>
            <a:r>
              <a:rPr lang="en-US" sz="1200" dirty="0"/>
              <a:t>reit.com (official business website)</a:t>
            </a:r>
          </a:p>
          <a:p>
            <a:r>
              <a:rPr lang="en-US" sz="1200" dirty="0"/>
              <a:t>YouTube: </a:t>
            </a:r>
            <a:r>
              <a:rPr lang="en-US" sz="1200" dirty="0" err="1"/>
              <a:t>Commerical</a:t>
            </a:r>
            <a:r>
              <a:rPr lang="en-US" sz="1200" dirty="0"/>
              <a:t> Property Advisors</a:t>
            </a:r>
          </a:p>
          <a:p>
            <a:endParaRPr lang="en-US" sz="900" dirty="0"/>
          </a:p>
          <a:p>
            <a:r>
              <a:rPr lang="en-US" sz="1200" dirty="0"/>
              <a:t>YouTube: </a:t>
            </a:r>
            <a:r>
              <a:rPr lang="en-US" sz="1200" i="0" dirty="0">
                <a:solidFill>
                  <a:srgbClr val="0F0F0F"/>
                </a:solidFill>
                <a:effectLst/>
                <a:highlight>
                  <a:srgbClr val="FFFFFF"/>
                </a:highlight>
              </a:rPr>
              <a:t>R&amp;G #15: HOW TO INVEST IN REITS WITH WALLSTREET TRAPPER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9515F72-F23B-7F82-8C59-D6AE46C5A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847" y="5157861"/>
            <a:ext cx="5320155" cy="138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 dirty="0">
                <a:ln>
                  <a:noFill/>
                </a:ln>
                <a:solidFill>
                  <a:srgbClr val="338FE9"/>
                </a:solidFill>
                <a:effectLst/>
                <a:latin typeface="inherit"/>
                <a:hlinkClick r:id="rId6"/>
              </a:rPr>
              <a:t>https://youtu.be/25TNJZnEbXM?si=BAsnQHkAl3uMRMHt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8BA7D34-DD2D-F136-DE79-FB3D42509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847" y="6138013"/>
            <a:ext cx="3568823" cy="138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>
                <a:ln>
                  <a:noFill/>
                </a:ln>
                <a:solidFill>
                  <a:srgbClr val="196AD4"/>
                </a:solidFill>
                <a:effectLst/>
                <a:latin typeface="inherit"/>
                <a:hlinkClick r:id="rId7"/>
              </a:rPr>
              <a:t>https://youtu.be/ohRhfcCCCGY?si=vPCaJQGU2L2tYg58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332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E0C1-DA11-DEFF-8455-A4509497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64CD-B395-196C-C4C6-F6580E6E55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4238" y="3541045"/>
            <a:ext cx="5124789" cy="465155"/>
          </a:xfrm>
        </p:spPr>
        <p:txBody>
          <a:bodyPr/>
          <a:lstStyle/>
          <a:p>
            <a:r>
              <a:rPr lang="en-US" sz="800" dirty="0">
                <a:hlinkClick r:id="rId2" action="ppaction://hlinkfile"/>
              </a:rPr>
              <a:t>C:\Users\keish\OneDrive\Desktop\KLM\Herschel Bowens Bio.pdf</a:t>
            </a:r>
            <a:endParaRPr lang="en-US" sz="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BB05E5D-F0E8-C51E-E65E-92FDE13E6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321" y="1848925"/>
            <a:ext cx="4727575" cy="164826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E98D37-84B6-620F-E2BC-9C6471A798D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02298" y="1441271"/>
            <a:ext cx="4727735" cy="323412"/>
          </a:xfrm>
        </p:spPr>
        <p:txBody>
          <a:bodyPr/>
          <a:lstStyle/>
          <a:p>
            <a:r>
              <a:rPr lang="en-US" sz="1000" dirty="0"/>
              <a:t>Green &amp; Green Certified Public Accountants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F2A6007-3DA3-C4C5-C9B4-7AB478CE862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5702298" y="1874706"/>
            <a:ext cx="5843657" cy="3411900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9A23D67-4F38-645B-8DFC-9CF6EBC9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E41B7-A2DB-4285-A7A5-A1084718EB55}" type="datetime1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4761C-50B5-3EDD-0DF9-4D78E133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11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DA8EED-5AF6-0C9D-DB7D-A196A5840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61" y="3934082"/>
            <a:ext cx="4659200" cy="1648262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1970A59-D1DA-7CED-9B08-75860ECA7AB1}"/>
              </a:ext>
            </a:extLst>
          </p:cNvPr>
          <p:cNvSpPr txBox="1">
            <a:spLocks/>
          </p:cNvSpPr>
          <p:nvPr/>
        </p:nvSpPr>
        <p:spPr>
          <a:xfrm>
            <a:off x="344238" y="5600381"/>
            <a:ext cx="4727735" cy="465155"/>
          </a:xfrm>
          <a:prstGeom prst="rect">
            <a:avLst/>
          </a:prstGeom>
        </p:spPr>
        <p:txBody>
          <a:bodyPr vert="horz" lIns="109728" tIns="109728" rIns="109728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None/>
              <a:defRPr sz="20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hlinkClick r:id="rId6" action="ppaction://hlinkfile"/>
              </a:rPr>
              <a:t>C:\Users\keish\OneDrive\Desktop\KLM\Travis Perry Bio.pdf</a:t>
            </a:r>
            <a:endParaRPr lang="en-US" sz="800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2DC63ABE-F3B5-DEA5-8570-4824EAC6390F}"/>
              </a:ext>
            </a:extLst>
          </p:cNvPr>
          <p:cNvSpPr txBox="1">
            <a:spLocks/>
          </p:cNvSpPr>
          <p:nvPr/>
        </p:nvSpPr>
        <p:spPr>
          <a:xfrm>
            <a:off x="5736566" y="5286606"/>
            <a:ext cx="6314536" cy="617086"/>
          </a:xfrm>
          <a:prstGeom prst="rect">
            <a:avLst/>
          </a:prstGeom>
        </p:spPr>
        <p:txBody>
          <a:bodyPr vert="horz" lIns="109728" tIns="109728" rIns="109728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None/>
              <a:defRPr sz="20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u="sng" dirty="0">
                <a:solidFill>
                  <a:srgbClr val="0070C0"/>
                </a:solidFill>
                <a:hlinkClick r:id="rId7"/>
              </a:rPr>
              <a:t>https://www.gandgcpas.com/about-us/antonia-toni-gentry/</a:t>
            </a:r>
            <a:endParaRPr lang="en-US" sz="1000" u="sng" dirty="0">
              <a:solidFill>
                <a:srgbClr val="0070C0"/>
              </a:solidFill>
            </a:endParaRP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0107B8D6-FCF0-2CE8-7FF4-346636230CE3}"/>
              </a:ext>
            </a:extLst>
          </p:cNvPr>
          <p:cNvSpPr txBox="1">
            <a:spLocks/>
          </p:cNvSpPr>
          <p:nvPr/>
        </p:nvSpPr>
        <p:spPr>
          <a:xfrm>
            <a:off x="292161" y="1441271"/>
            <a:ext cx="4727735" cy="323412"/>
          </a:xfrm>
          <a:prstGeom prst="rect">
            <a:avLst/>
          </a:prstGeom>
        </p:spPr>
        <p:txBody>
          <a:bodyPr vert="horz" lIns="109728" tIns="109728" rIns="109728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None/>
              <a:defRPr sz="20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Husch Blackwell </a:t>
            </a:r>
          </a:p>
        </p:txBody>
      </p:sp>
    </p:spTree>
    <p:extLst>
      <p:ext uri="{BB962C8B-B14F-4D97-AF65-F5344CB8AC3E}">
        <p14:creationId xmlns:p14="http://schemas.microsoft.com/office/powerpoint/2010/main" val="3728478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38041"/>
            <a:ext cx="4862811" cy="2019488"/>
          </a:xfrm>
        </p:spPr>
        <p:txBody>
          <a:bodyPr/>
          <a:lstStyle/>
          <a:p>
            <a:r>
              <a:rPr lang="en-US" dirty="0"/>
              <a:t>Q &amp; A Session</a:t>
            </a:r>
          </a:p>
        </p:txBody>
      </p:sp>
      <p:pic>
        <p:nvPicPr>
          <p:cNvPr id="32" name="Picture Placeholder 31" descr="Two people working on a laptop and tablet with graphs and tables ">
            <a:extLst>
              <a:ext uri="{FF2B5EF4-FFF2-40B4-BE49-F238E27FC236}">
                <a16:creationId xmlns:a16="http://schemas.microsoft.com/office/drawing/2014/main" id="{C4A8B214-180D-446B-9616-62B7371F3DD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8023" y="4941"/>
            <a:ext cx="5333977" cy="3392053"/>
          </a:xfrm>
        </p:spPr>
      </p:pic>
      <p:pic>
        <p:nvPicPr>
          <p:cNvPr id="30" name="Picture Placeholder 29" descr="Office Stairs, hanging lights">
            <a:extLst>
              <a:ext uri="{FF2B5EF4-FFF2-40B4-BE49-F238E27FC236}">
                <a16:creationId xmlns:a16="http://schemas.microsoft.com/office/drawing/2014/main" id="{C1CA27C7-F47D-4606-AAE8-32BD4D0698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7712" y="3461002"/>
            <a:ext cx="5728215" cy="3396997"/>
          </a:xfrm>
        </p:spPr>
      </p:pic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F05ADB0-C4C0-4EB9-ACD6-D5D69C07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AD3D92E-461F-4093-FFC9-02C1E4B81C5B}"/>
              </a:ext>
            </a:extLst>
          </p:cNvPr>
          <p:cNvSpPr txBox="1">
            <a:spLocks/>
          </p:cNvSpPr>
          <p:nvPr/>
        </p:nvSpPr>
        <p:spPr>
          <a:xfrm>
            <a:off x="7961943" y="4149756"/>
            <a:ext cx="4862811" cy="201948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 design" id="{8DF40F11-961C-40C1-B57E-2C85D77BE8AB}" vid="{190CBECE-7035-4069-999B-A1AE92AB27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2330D6-F005-4F15-8FBA-5049BFF093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B374A7-2E79-4FEF-822D-2492B9AD907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093A0A0-A69C-47FE-9FE5-21F06181BF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 design</Template>
  <TotalTime>44367</TotalTime>
  <Words>825</Words>
  <Application>Microsoft Office PowerPoint</Application>
  <PresentationFormat>Widescreen</PresentationFormat>
  <Paragraphs>101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Meiryo</vt:lpstr>
      <vt:lpstr>Arial</vt:lpstr>
      <vt:lpstr>Calibri</vt:lpstr>
      <vt:lpstr>Corbel</vt:lpstr>
      <vt:lpstr>garamond</vt:lpstr>
      <vt:lpstr>inherit</vt:lpstr>
      <vt:lpstr>SuisseIntl</vt:lpstr>
      <vt:lpstr>Wingdings</vt:lpstr>
      <vt:lpstr>ShojiVTI</vt:lpstr>
      <vt:lpstr>WELCOME</vt:lpstr>
      <vt:lpstr>Introductions</vt:lpstr>
      <vt:lpstr>Mission Statement</vt:lpstr>
      <vt:lpstr>What is a REIT?</vt:lpstr>
      <vt:lpstr>How does a company qualify as a REIT? </vt:lpstr>
      <vt:lpstr>WHO SHOULD INVEST?</vt:lpstr>
      <vt:lpstr>Pay at least 90% of its taxable income in the form of shareholder dividends each year (Quarterly Payouts)  </vt:lpstr>
      <vt:lpstr>THE WAY TO GET STARTED IS TO QUIT TALKING AND BEGIN DOING.</vt:lpstr>
      <vt:lpstr>Existing  Real Estate Investment Trusts  </vt:lpstr>
      <vt:lpstr>What’s Next:</vt:lpstr>
      <vt:lpstr>Meet The Team</vt:lpstr>
      <vt:lpstr>Q &amp; A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K M</dc:creator>
  <cp:lastModifiedBy>K M</cp:lastModifiedBy>
  <cp:revision>1</cp:revision>
  <dcterms:created xsi:type="dcterms:W3CDTF">2024-02-24T14:24:36Z</dcterms:created>
  <dcterms:modified xsi:type="dcterms:W3CDTF">2025-07-02T21:33:20Z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